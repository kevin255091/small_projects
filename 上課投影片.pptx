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0" r:id="rId5"/>
    <p:sldId id="262" r:id="rId6"/>
    <p:sldId id="269" r:id="rId7"/>
    <p:sldId id="261" r:id="rId8"/>
    <p:sldId id="264" r:id="rId9"/>
    <p:sldId id="270" r:id="rId10"/>
    <p:sldId id="265" r:id="rId11"/>
    <p:sldId id="266" r:id="rId12"/>
    <p:sldId id="259" r:id="rId13"/>
    <p:sldId id="268" r:id="rId14"/>
    <p:sldId id="267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7147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0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40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56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16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10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127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326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932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31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87781-9AD4-4FA3-BC6F-6546F424DEC2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BDE83-2507-4D5F-860B-11BD9A9DF1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1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commons.wikimedia.org/w/index.php?curid=7738289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en.wikipedia.org/wiki/File:Inachis_io_top_detail_MichaD_crop.jp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CChjlEOSkI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OTHVJrWxWA" TargetMode="External"/><Relationship Id="rId2" Type="http://schemas.openxmlformats.org/officeDocument/2006/relationships/hyperlink" Target="https://www.youtube.com/shorts/juUZd2PXhk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IINwE9PTEh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butterfly-tw/%E8%9D%B4%E8%9D%B6%E5%9C%96%E9%91%91/%E7%81%B0%E8%9D%B6%E7%A7%91/%E8%97%8D%E7%81%B0%E8%9D%B6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VNNSF9Ni0w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HvRLfJkMX0" TargetMode="External"/><Relationship Id="rId2" Type="http://schemas.openxmlformats.org/officeDocument/2006/relationships/hyperlink" Target="https://www.youtube.com/watch?v=35ILf4xbeM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shorts/YFlDMTdfiV4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554" y="5332575"/>
            <a:ext cx="10515600" cy="707922"/>
          </a:xfrm>
        </p:spPr>
        <p:txBody>
          <a:bodyPr>
            <a:normAutofit/>
          </a:bodyPr>
          <a:lstStyle/>
          <a:p>
            <a:r>
              <a:rPr lang="zh-TW" altLang="en-US" sz="1800" dirty="0"/>
              <a:t>資料來源</a:t>
            </a:r>
            <a:r>
              <a:rPr lang="en-US" altLang="zh-TW" sz="1800" dirty="0"/>
              <a:t>:</a:t>
            </a:r>
            <a:r>
              <a:rPr lang="zh-TW" altLang="en-US" sz="1800" dirty="0" smtClean="0"/>
              <a:t> </a:t>
            </a:r>
            <a:r>
              <a:rPr lang="en-US" altLang="zh-TW" sz="1800" dirty="0" err="1" smtClean="0"/>
              <a:t>Peellden</a:t>
            </a:r>
            <a:r>
              <a:rPr lang="en-US" altLang="zh-TW" sz="1800" dirty="0" smtClean="0"/>
              <a:t> - </a:t>
            </a:r>
            <a:r>
              <a:rPr lang="zh-TW" altLang="en-US" sz="1800" dirty="0" smtClean="0"/>
              <a:t>自己的作品</a:t>
            </a:r>
            <a:r>
              <a:rPr lang="en-US" altLang="zh-TW" sz="1800" dirty="0" smtClean="0"/>
              <a:t>, CC BY-SA 4.0, https://commons.wikimedia.org/w/index.php?curid=40881336</a:t>
            </a:r>
            <a:endParaRPr lang="zh-TW" altLang="en-US" sz="18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084" y="398478"/>
            <a:ext cx="6530541" cy="4351338"/>
          </a:xfrm>
        </p:spPr>
      </p:pic>
    </p:spTree>
    <p:extLst>
      <p:ext uri="{BB962C8B-B14F-4D97-AF65-F5344CB8AC3E}">
        <p14:creationId xmlns:p14="http://schemas.microsoft.com/office/powerpoint/2010/main" val="126798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75810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dirty="0" smtClean="0"/>
              <a:t>拉拉山鑽灰蝶</a:t>
            </a:r>
            <a:endParaRPr lang="zh-TW" altLang="en-US" sz="5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948583"/>
            <a:ext cx="10972088" cy="5228380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/>
              <a:t>界 </a:t>
            </a:r>
            <a:r>
              <a:rPr lang="en-US" altLang="zh-TW" dirty="0" smtClean="0"/>
              <a:t>:</a:t>
            </a:r>
            <a:r>
              <a:rPr lang="zh-TW" altLang="en-US" dirty="0" smtClean="0"/>
              <a:t> 動物界 </a:t>
            </a:r>
            <a:r>
              <a:rPr lang="en-US" altLang="zh-TW" dirty="0" smtClean="0"/>
              <a:t>Animalia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zh-TW" altLang="en-US" dirty="0" smtClean="0"/>
              <a:t>門 </a:t>
            </a:r>
            <a:r>
              <a:rPr lang="en-US" altLang="zh-TW" dirty="0" smtClean="0"/>
              <a:t>:</a:t>
            </a:r>
            <a:r>
              <a:rPr lang="zh-TW" altLang="en-US" dirty="0" smtClean="0"/>
              <a:t> 節肢動物門 </a:t>
            </a:r>
            <a:r>
              <a:rPr lang="en-US" altLang="zh-TW" dirty="0" err="1" smtClean="0"/>
              <a:t>Arthropoda</a:t>
            </a:r>
            <a:endParaRPr lang="en-US" altLang="zh-TW" dirty="0" smtClean="0"/>
          </a:p>
          <a:p>
            <a:r>
              <a:rPr lang="zh-TW" altLang="en-US" dirty="0" smtClean="0"/>
              <a:t>綱 </a:t>
            </a:r>
            <a:r>
              <a:rPr lang="en-US" altLang="zh-TW" dirty="0" smtClean="0"/>
              <a:t>:</a:t>
            </a:r>
            <a:r>
              <a:rPr lang="zh-TW" altLang="en-US" dirty="0" smtClean="0"/>
              <a:t> 昆蟲綱 </a:t>
            </a:r>
            <a:r>
              <a:rPr lang="en-US" altLang="zh-TW" dirty="0" err="1" smtClean="0"/>
              <a:t>Insecta</a:t>
            </a:r>
            <a:endParaRPr lang="en-US" altLang="zh-TW" dirty="0" smtClean="0"/>
          </a:p>
          <a:p>
            <a:r>
              <a:rPr lang="zh-TW" altLang="en-US" dirty="0" smtClean="0"/>
              <a:t>目 </a:t>
            </a:r>
            <a:r>
              <a:rPr lang="en-US" altLang="zh-TW" dirty="0" smtClean="0"/>
              <a:t>:</a:t>
            </a:r>
            <a:r>
              <a:rPr lang="zh-TW" altLang="en-US" dirty="0" smtClean="0"/>
              <a:t> 鱗翅目 </a:t>
            </a:r>
            <a:r>
              <a:rPr lang="en-US" altLang="zh-TW" dirty="0" smtClean="0"/>
              <a:t>Lepidoptera</a:t>
            </a:r>
          </a:p>
          <a:p>
            <a:r>
              <a:rPr lang="zh-TW" altLang="en-US" dirty="0" smtClean="0"/>
              <a:t>科 </a:t>
            </a:r>
            <a:r>
              <a:rPr lang="en-US" altLang="zh-TW" dirty="0" smtClean="0"/>
              <a:t>:</a:t>
            </a:r>
            <a:r>
              <a:rPr lang="zh-TW" altLang="en-US" dirty="0" smtClean="0"/>
              <a:t>灰蝶科 </a:t>
            </a:r>
            <a:r>
              <a:rPr lang="en-US" altLang="zh-TW" dirty="0" err="1" smtClean="0"/>
              <a:t>Lycaenidae</a:t>
            </a:r>
            <a:endParaRPr lang="en-US" altLang="zh-TW" dirty="0" smtClean="0"/>
          </a:p>
          <a:p>
            <a:r>
              <a:rPr lang="zh-TW" altLang="en-US" dirty="0" smtClean="0"/>
              <a:t>屬 </a:t>
            </a:r>
            <a:r>
              <a:rPr lang="en-US" altLang="zh-TW" dirty="0" smtClean="0"/>
              <a:t>:</a:t>
            </a:r>
            <a:r>
              <a:rPr lang="zh-TW" altLang="en-US" dirty="0" smtClean="0"/>
              <a:t> 鑽灰蝶屬 </a:t>
            </a:r>
            <a:r>
              <a:rPr lang="en-US" altLang="zh-TW" i="1" dirty="0" err="1" smtClean="0"/>
              <a:t>Horaga</a:t>
            </a:r>
            <a:endParaRPr lang="en-US" altLang="zh-TW" i="1" dirty="0" smtClean="0"/>
          </a:p>
          <a:p>
            <a:r>
              <a:rPr lang="zh-TW" altLang="en-US" dirty="0" smtClean="0"/>
              <a:t>種 </a:t>
            </a:r>
            <a:r>
              <a:rPr lang="en-US" altLang="zh-TW" dirty="0" smtClean="0"/>
              <a:t>:</a:t>
            </a:r>
            <a:r>
              <a:rPr lang="zh-TW" altLang="en-US" dirty="0" smtClean="0"/>
              <a:t>拉拉山鑽灰蝶 </a:t>
            </a:r>
            <a:r>
              <a:rPr lang="en-US" altLang="zh-TW" i="1" dirty="0" err="1" smtClean="0"/>
              <a:t>Horaga</a:t>
            </a:r>
            <a:r>
              <a:rPr lang="en-US" altLang="zh-TW" i="1" dirty="0" smtClean="0"/>
              <a:t> </a:t>
            </a:r>
            <a:r>
              <a:rPr lang="en-US" altLang="zh-TW" i="1" dirty="0" err="1" smtClean="0"/>
              <a:t>rarasana</a:t>
            </a:r>
            <a:endParaRPr lang="en-US" altLang="zh-TW" i="1" dirty="0"/>
          </a:p>
          <a:p>
            <a:endParaRPr lang="en-US" altLang="zh-TW" i="1" dirty="0" smtClean="0"/>
          </a:p>
          <a:p>
            <a:pPr marL="0" indent="0">
              <a:buNone/>
            </a:pPr>
            <a:r>
              <a:rPr lang="zh-TW" altLang="en-US" dirty="0" smtClean="0"/>
              <a:t>台灣特有種，雌蝶在夏末產卵，卵要到隔年春天才會孵化</a:t>
            </a:r>
            <a:r>
              <a:rPr lang="en-US" altLang="zh-TW" dirty="0" smtClean="0"/>
              <a:t>(8</a:t>
            </a:r>
            <a:r>
              <a:rPr lang="zh-TW" altLang="en-US" dirty="0" smtClean="0"/>
              <a:t>個月左右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r>
              <a:rPr lang="zh-TW" altLang="en-US" dirty="0" smtClean="0"/>
              <a:t>主要分布在</a:t>
            </a:r>
            <a:r>
              <a:rPr lang="zh-TW" altLang="en-US" dirty="0" smtClean="0"/>
              <a:t>桃園、新北、宜蘭交界處的</a:t>
            </a:r>
            <a:r>
              <a:rPr lang="zh-TW" altLang="en-US" dirty="0" smtClean="0"/>
              <a:t>海拔</a:t>
            </a:r>
            <a:r>
              <a:rPr lang="en-US" altLang="zh-TW" dirty="0" smtClean="0"/>
              <a:t>900</a:t>
            </a:r>
            <a:r>
              <a:rPr lang="zh-TW" altLang="en-US" dirty="0" smtClean="0"/>
              <a:t>公尺以上的山上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成</a:t>
            </a:r>
            <a:r>
              <a:rPr lang="zh-TW" altLang="en-US" dirty="0" smtClean="0"/>
              <a:t>蝶主要在</a:t>
            </a:r>
            <a:r>
              <a:rPr lang="en-US" altLang="zh-TW" dirty="0" smtClean="0"/>
              <a:t>5</a:t>
            </a:r>
            <a:r>
              <a:rPr lang="zh-TW" altLang="en-US" dirty="0" smtClean="0"/>
              <a:t>到</a:t>
            </a:r>
            <a:r>
              <a:rPr lang="en-US" altLang="zh-TW" dirty="0" smtClean="0"/>
              <a:t>7</a:t>
            </a:r>
            <a:r>
              <a:rPr lang="zh-TW" altLang="en-US" dirty="0" smtClean="0"/>
              <a:t>月份出現，最晚</a:t>
            </a:r>
            <a:r>
              <a:rPr lang="en-US" altLang="zh-TW" dirty="0" smtClean="0"/>
              <a:t>10</a:t>
            </a:r>
            <a:r>
              <a:rPr lang="zh-TW" altLang="en-US" dirty="0" smtClean="0"/>
              <a:t>月也有紀錄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內容版面配置區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053" y="1569252"/>
            <a:ext cx="3901285" cy="259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蝴蝶在台灣有新名和舊名兩套系統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84418"/>
            <a:ext cx="10515600" cy="5195843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新</a:t>
            </a:r>
            <a:r>
              <a:rPr lang="zh-TW" altLang="en-US" dirty="0" smtClean="0"/>
              <a:t>名逐漸成為主流</a:t>
            </a:r>
            <a:endParaRPr lang="en-US" altLang="zh-TW" dirty="0" smtClean="0"/>
          </a:p>
          <a:p>
            <a:r>
              <a:rPr lang="zh-TW" altLang="en-US" dirty="0" smtClean="0"/>
              <a:t>白粉蝶，舊名是 紋白蝶，幼蟲就是最常見的菜</a:t>
            </a:r>
            <a:r>
              <a:rPr lang="zh-TW" altLang="en-US" dirty="0" smtClean="0"/>
              <a:t>蟲</a:t>
            </a:r>
            <a:r>
              <a:rPr lang="en-US" altLang="zh-TW" dirty="0" smtClean="0"/>
              <a:t>(</a:t>
            </a:r>
            <a:r>
              <a:rPr lang="zh-TW" altLang="en-US" dirty="0" smtClean="0"/>
              <a:t>吃高麗菜、花椰菜</a:t>
            </a:r>
            <a:r>
              <a:rPr lang="en-US" altLang="zh-TW" dirty="0" smtClean="0"/>
              <a:t>…)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pPr algn="r"/>
            <a:r>
              <a:rPr lang="zh-TW" altLang="en-US" sz="1500" dirty="0" smtClean="0"/>
              <a:t>資料來源 </a:t>
            </a:r>
            <a:r>
              <a:rPr lang="en-US" altLang="zh-TW" sz="1500" dirty="0" smtClean="0"/>
              <a:t>:</a:t>
            </a:r>
            <a:r>
              <a:rPr lang="zh-TW" altLang="en-US" sz="1500" dirty="0" smtClean="0"/>
              <a:t>由 </a:t>
            </a:r>
            <a:r>
              <a:rPr lang="en-US" altLang="zh-TW" sz="1500" dirty="0" smtClean="0"/>
              <a:t>Ryan </a:t>
            </a:r>
            <a:r>
              <a:rPr lang="en-US" altLang="zh-TW" sz="1500" dirty="0" err="1" smtClean="0"/>
              <a:t>Hodnett</a:t>
            </a:r>
            <a:r>
              <a:rPr lang="en-US" altLang="zh-TW" sz="1500" dirty="0" smtClean="0"/>
              <a:t> - </a:t>
            </a:r>
            <a:r>
              <a:rPr lang="zh-TW" altLang="en-US" sz="1500" dirty="0" smtClean="0"/>
              <a:t>自己的作品</a:t>
            </a:r>
            <a:r>
              <a:rPr lang="en-US" altLang="zh-TW" sz="1500" dirty="0" smtClean="0"/>
              <a:t>, CC BY-SA 4.0, </a:t>
            </a:r>
            <a:r>
              <a:rPr lang="en-US" altLang="zh-TW" sz="1500" dirty="0" smtClean="0">
                <a:hlinkClick r:id="rId2"/>
              </a:rPr>
              <a:t>https://commons.wikimedia.org/w/index.php?curid=77382898</a:t>
            </a:r>
            <a:endParaRPr lang="en-US" altLang="zh-TW" sz="1500" dirty="0" smtClean="0"/>
          </a:p>
          <a:p>
            <a:pPr algn="r"/>
            <a:r>
              <a:rPr lang="zh-TW" altLang="en-US" sz="1500" dirty="0" smtClean="0"/>
              <a:t>由 </a:t>
            </a:r>
            <a:r>
              <a:rPr lang="en-US" altLang="zh-TW" sz="1500" dirty="0" err="1" smtClean="0"/>
              <a:t>Bj.schoenmakers</a:t>
            </a:r>
            <a:r>
              <a:rPr lang="en-US" altLang="zh-TW" sz="1500" dirty="0" smtClean="0"/>
              <a:t> - </a:t>
            </a:r>
            <a:r>
              <a:rPr lang="zh-TW" altLang="en-US" sz="1500" dirty="0" smtClean="0"/>
              <a:t>自己的作品</a:t>
            </a:r>
            <a:r>
              <a:rPr lang="en-US" altLang="zh-TW" sz="1500" dirty="0" smtClean="0"/>
              <a:t>, CC0, https://commons.wikimedia.org/w/index.php?curid=35029748</a:t>
            </a:r>
          </a:p>
          <a:p>
            <a:r>
              <a:rPr lang="zh-TW" altLang="en-US" dirty="0" smtClean="0"/>
              <a:t>花</a:t>
            </a:r>
            <a:r>
              <a:rPr lang="zh-TW" altLang="en-US" dirty="0"/>
              <a:t>鳳蝶</a:t>
            </a:r>
            <a:r>
              <a:rPr lang="zh-TW" altLang="en-US" dirty="0" smtClean="0"/>
              <a:t>，舊名是 無尾鳳蝶，城市裡最常見的鳳蝶</a:t>
            </a:r>
            <a:endParaRPr lang="zh-TW" altLang="en-US" dirty="0"/>
          </a:p>
        </p:txBody>
      </p:sp>
      <p:pic>
        <p:nvPicPr>
          <p:cNvPr id="3078" name="Picture 6" descr="https://upload.wikimedia.org/wikipedia/commons/thumb/b/b3/Cabbage_White_%28Pieris_rapae%29_-_Kitchener%2C_Ontario.jpg/960px-Cabbage_White_%28Pieris_rapae%29_-_Kitchener%2C_Ontario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96" y="2341547"/>
            <a:ext cx="2795631" cy="27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終齡幼蟲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849" y="3086170"/>
            <a:ext cx="981016" cy="130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501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鱗翅目 </a:t>
            </a:r>
            <a:r>
              <a:rPr lang="en-US" altLang="zh-TW" dirty="0" smtClean="0"/>
              <a:t>(</a:t>
            </a:r>
            <a:r>
              <a:rPr lang="zh-TW" altLang="en-US" dirty="0" smtClean="0"/>
              <a:t>蝴蝶 和 蛾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2644"/>
          </a:xfrm>
        </p:spPr>
        <p:txBody>
          <a:bodyPr/>
          <a:lstStyle/>
          <a:p>
            <a:r>
              <a:rPr lang="zh-TW" altLang="en-US" dirty="0"/>
              <a:t>翅膀上覆</a:t>
            </a:r>
            <a:r>
              <a:rPr lang="zh-TW" altLang="en-US" dirty="0" smtClean="0"/>
              <a:t>滿 鱗粉</a:t>
            </a:r>
            <a:endParaRPr lang="en-US" altLang="zh-TW" dirty="0" smtClean="0"/>
          </a:p>
          <a:p>
            <a:r>
              <a:rPr lang="zh-TW" altLang="en-US" dirty="0"/>
              <a:t>鱗</a:t>
            </a:r>
            <a:r>
              <a:rPr lang="zh-TW" altLang="en-US" dirty="0" smtClean="0"/>
              <a:t>粉的作用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防水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吸收太陽能，提升體溫，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增強活動力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sz="1800" dirty="0" smtClean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 smtClean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r>
              <a:rPr lang="zh-TW" altLang="en-US" sz="1800" dirty="0" smtClean="0"/>
              <a:t>資料來源 </a:t>
            </a:r>
            <a:r>
              <a:rPr lang="en-US" altLang="zh-TW" sz="1800" dirty="0" smtClean="0"/>
              <a:t>:</a:t>
            </a:r>
            <a:r>
              <a:rPr lang="zh-TW" altLang="en-US" sz="1800" dirty="0" smtClean="0"/>
              <a:t> </a:t>
            </a:r>
            <a:r>
              <a:rPr lang="en-US" altLang="zh-TW" sz="1800" dirty="0" smtClean="0">
                <a:hlinkClick r:id="rId2"/>
              </a:rPr>
              <a:t>https://en.wikipedia.org/wiki/File:Inachis_io_top_detail_MichaD_crop.jpg</a:t>
            </a:r>
            <a:r>
              <a:rPr lang="zh-TW" altLang="en-US" sz="1800" dirty="0"/>
              <a:t> </a:t>
            </a:r>
            <a:endParaRPr lang="en-US" altLang="zh-TW" sz="1800" dirty="0" smtClean="0"/>
          </a:p>
        </p:txBody>
      </p:sp>
      <p:pic>
        <p:nvPicPr>
          <p:cNvPr id="2052" name="Picture 4" descr="https://upload.wikimedia.org/wikipedia/commons/thumb/8/8c/Inachis_io_top_detail_MichaD_crop.jpg/960px-Inachis_io_top_detail_MichaD_cro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859" y="572568"/>
            <a:ext cx="6330074" cy="581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17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某些蝴蝶</a:t>
            </a:r>
            <a:r>
              <a:rPr lang="zh-TW" altLang="en-US" dirty="0" smtClean="0"/>
              <a:t>的鱗粉結構特別，產生物理色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當陽光照射</a:t>
            </a:r>
            <a:r>
              <a:rPr lang="zh-TW" altLang="en-US" dirty="0" smtClean="0"/>
              <a:t>在翅膀上，</a:t>
            </a:r>
            <a:r>
              <a:rPr lang="zh-TW" altLang="en-US" dirty="0"/>
              <a:t>因為光的折射、繞射、反射等物理機制造成在某些角度呈現出不同的</a:t>
            </a:r>
            <a:r>
              <a:rPr lang="zh-TW" altLang="en-US" dirty="0" smtClean="0"/>
              <a:t>色澤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比方說小紫斑</a:t>
            </a:r>
            <a:r>
              <a:rPr lang="zh-TW" altLang="en-US" dirty="0" smtClean="0"/>
              <a:t>蝶的前翅背面，平常是深紫色，但在陽光下的某些角度會呈現亮藍色的光澤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www.youtube.com/watch?v=pCChjlEOSkI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3420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蝴蝶有五大科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 smtClean="0"/>
              <a:t>鳳蝶科</a:t>
            </a:r>
            <a:endParaRPr lang="en-US" altLang="zh-TW" sz="3600" dirty="0" smtClean="0"/>
          </a:p>
          <a:p>
            <a:r>
              <a:rPr lang="zh-TW" altLang="en-US" sz="3600" dirty="0"/>
              <a:t>粉蝶</a:t>
            </a:r>
            <a:r>
              <a:rPr lang="zh-TW" altLang="en-US" sz="3600" dirty="0" smtClean="0"/>
              <a:t>科</a:t>
            </a:r>
            <a:endParaRPr lang="en-US" altLang="zh-TW" sz="3600" dirty="0" smtClean="0"/>
          </a:p>
          <a:p>
            <a:r>
              <a:rPr lang="zh-TW" altLang="en-US" sz="3600" dirty="0"/>
              <a:t>弄蝶</a:t>
            </a:r>
            <a:r>
              <a:rPr lang="zh-TW" altLang="en-US" sz="3600" dirty="0" smtClean="0"/>
              <a:t>科</a:t>
            </a:r>
            <a:endParaRPr lang="en-US" altLang="zh-TW" sz="3600" dirty="0" smtClean="0"/>
          </a:p>
          <a:p>
            <a:r>
              <a:rPr lang="zh-TW" altLang="en-US" sz="3600" dirty="0"/>
              <a:t>灰蝶</a:t>
            </a:r>
            <a:r>
              <a:rPr lang="zh-TW" altLang="en-US" sz="3600" dirty="0" smtClean="0"/>
              <a:t>科</a:t>
            </a:r>
            <a:endParaRPr lang="en-US" altLang="zh-TW" sz="3600" dirty="0" smtClean="0"/>
          </a:p>
          <a:p>
            <a:r>
              <a:rPr lang="zh-TW" altLang="en-US" sz="3600" dirty="0"/>
              <a:t>蛺蝶</a:t>
            </a:r>
            <a:r>
              <a:rPr lang="zh-TW" altLang="en-US" sz="3600" dirty="0" smtClean="0"/>
              <a:t>科</a:t>
            </a:r>
            <a:r>
              <a:rPr lang="en-US" altLang="zh-TW" sz="3600" dirty="0" smtClean="0"/>
              <a:t>(</a:t>
            </a:r>
            <a:r>
              <a:rPr lang="zh-TW" altLang="en-US" sz="3600" dirty="0" smtClean="0"/>
              <a:t>大部分看起來四隻腳，實際上仍是六隻腳</a:t>
            </a:r>
            <a:r>
              <a:rPr lang="en-US" altLang="zh-TW" sz="3600" dirty="0" smtClean="0"/>
              <a:t>)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1362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灰蝶科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52785"/>
            <a:ext cx="10515600" cy="4724178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有些種類的灰蝶後翅末端有假眼，並有搓動後翅的行為</a:t>
            </a:r>
            <a:endParaRPr lang="en-US" altLang="zh-TW" dirty="0"/>
          </a:p>
          <a:p>
            <a:r>
              <a:rPr lang="zh-TW" altLang="en-US" dirty="0" smtClean="0"/>
              <a:t>三斑虎灰蝶的假眼</a:t>
            </a:r>
            <a:endParaRPr lang="en-US" altLang="zh-TW" dirty="0" smtClean="0"/>
          </a:p>
          <a:p>
            <a:r>
              <a:rPr lang="en-US" altLang="zh-TW" dirty="0" smtClean="0">
                <a:hlinkClick r:id="rId2"/>
              </a:rPr>
              <a:t>https://www.youtube.com/shorts/juUZd2PXhkU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淡青雅波灰蝶</a:t>
            </a:r>
            <a:r>
              <a:rPr lang="en-US" altLang="zh-TW" dirty="0"/>
              <a:t>(</a:t>
            </a:r>
            <a:r>
              <a:rPr lang="zh-TW" altLang="en-US" dirty="0"/>
              <a:t>白波紋小灰蝶</a:t>
            </a:r>
            <a:r>
              <a:rPr lang="en-US" altLang="zh-TW" dirty="0"/>
              <a:t>) </a:t>
            </a:r>
            <a:r>
              <a:rPr lang="zh-TW" altLang="en-US" dirty="0"/>
              <a:t>搓動後</a:t>
            </a:r>
            <a:r>
              <a:rPr lang="zh-TW" altLang="en-US" dirty="0" smtClean="0"/>
              <a:t>翅</a:t>
            </a:r>
            <a:endParaRPr lang="en-US" altLang="zh-TW" dirty="0" smtClean="0"/>
          </a:p>
          <a:p>
            <a:r>
              <a:rPr lang="en-US" altLang="zh-TW" dirty="0">
                <a:hlinkClick r:id="rId3"/>
              </a:rPr>
              <a:t>https://</a:t>
            </a:r>
            <a:r>
              <a:rPr lang="en-US" altLang="zh-TW" dirty="0" smtClean="0">
                <a:hlinkClick r:id="rId3"/>
              </a:rPr>
              <a:t>www.youtube.com/watch?v=2OTHVJrWxWA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/>
              <a:t>有些種類的灰蝶</a:t>
            </a:r>
            <a:r>
              <a:rPr lang="zh-TW" altLang="en-US" dirty="0" smtClean="0"/>
              <a:t>，其幼蟲會分泌蜜露，和特定的螞蟻共生</a:t>
            </a:r>
            <a:endParaRPr lang="en-US" altLang="zh-TW" dirty="0" smtClean="0"/>
          </a:p>
          <a:p>
            <a:r>
              <a:rPr lang="zh-TW" altLang="en-US" dirty="0"/>
              <a:t>比如說 虎灰</a:t>
            </a:r>
            <a:r>
              <a:rPr lang="zh-TW" altLang="en-US" dirty="0" smtClean="0"/>
              <a:t>蝶的幼蟲與</a:t>
            </a:r>
            <a:r>
              <a:rPr lang="zh-TW" altLang="en-US" dirty="0" smtClean="0"/>
              <a:t>懸巢舉尾家</a:t>
            </a:r>
            <a:r>
              <a:rPr lang="zh-TW" altLang="en-US" dirty="0" smtClean="0"/>
              <a:t>蟻共生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615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城市中的小精靈 </a:t>
            </a:r>
            <a:r>
              <a:rPr lang="en-US" altLang="zh-TW" dirty="0" smtClean="0"/>
              <a:t>: </a:t>
            </a:r>
            <a:r>
              <a:rPr lang="zh-TW" altLang="en-US" dirty="0" smtClean="0"/>
              <a:t>藍灰蝶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81027"/>
          </a:xfrm>
        </p:spPr>
        <p:txBody>
          <a:bodyPr>
            <a:normAutofit lnSpcReduction="10000"/>
          </a:bodyPr>
          <a:lstStyle/>
          <a:p>
            <a:r>
              <a:rPr lang="zh-TW" altLang="en-US" sz="3000" dirty="0" smtClean="0"/>
              <a:t>城市最常見的灰蝶</a:t>
            </a:r>
            <a:endParaRPr lang="en-US" altLang="zh-TW" sz="3000" dirty="0" smtClean="0"/>
          </a:p>
          <a:p>
            <a:r>
              <a:rPr lang="zh-TW" altLang="en-US" sz="3000" dirty="0"/>
              <a:t>樸素但</a:t>
            </a:r>
            <a:r>
              <a:rPr lang="zh-TW" altLang="en-US" sz="3000" dirty="0" smtClean="0"/>
              <a:t>可愛</a:t>
            </a:r>
            <a:endParaRPr lang="en-US" altLang="zh-TW" sz="3000" dirty="0"/>
          </a:p>
          <a:p>
            <a:r>
              <a:rPr lang="zh-TW" altLang="en-US" sz="3000" dirty="0" smtClean="0"/>
              <a:t>幼蟲吃黃花酢漿草</a:t>
            </a:r>
            <a:r>
              <a:rPr lang="en-US" altLang="zh-TW" sz="3000" dirty="0" smtClean="0"/>
              <a:t>(</a:t>
            </a:r>
            <a:r>
              <a:rPr lang="zh-TW" altLang="en-US" sz="3000" dirty="0" smtClean="0"/>
              <a:t>公園很常見</a:t>
            </a:r>
            <a:r>
              <a:rPr lang="en-US" altLang="zh-TW" sz="3000" dirty="0" smtClean="0"/>
              <a:t>)</a:t>
            </a:r>
            <a:endParaRPr lang="en-US" altLang="zh-TW" sz="3000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sz="1600" dirty="0" smtClean="0"/>
              <a:t>資料來源 </a:t>
            </a:r>
            <a:r>
              <a:rPr lang="en-US" altLang="zh-TW" sz="1600" dirty="0" smtClean="0"/>
              <a:t>: https://zh.wikipedia.org/wiki/File:Butterfly_Botanical_Garden_1.jpg</a:t>
            </a:r>
            <a:endParaRPr lang="en-US" altLang="zh-TW" sz="1600" dirty="0"/>
          </a:p>
          <a:p>
            <a:r>
              <a:rPr lang="en-US" altLang="zh-TW" dirty="0" smtClean="0">
                <a:hlinkClick r:id="rId2"/>
              </a:rPr>
              <a:t>https://www.youtube.com/watch?v=IINwE9PTEhs</a:t>
            </a: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95" y="1959087"/>
            <a:ext cx="3763399" cy="306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5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藍灰蝶的翅膀背面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https://sites.google.com/view/butterfly-tw/%E8%9D%B4%E8%9D%B6%E5%9C%96%E9%91%91/%E7%81%B0%E8%9D%B6%E7%A7%91/%</a:t>
            </a:r>
            <a:r>
              <a:rPr lang="en-US" altLang="zh-TW" dirty="0" smtClean="0">
                <a:hlinkClick r:id="rId2"/>
              </a:rPr>
              <a:t>E8%97%8D%E7%81%B0%E8%9D%B6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474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黃花酢漿草 </a:t>
            </a:r>
            <a:r>
              <a:rPr lang="en-US" altLang="zh-TW" dirty="0" smtClean="0"/>
              <a:t>(</a:t>
            </a:r>
            <a:r>
              <a:rPr lang="zh-TW" altLang="en-US" dirty="0" smtClean="0"/>
              <a:t>藍灰蝶幼蟲的食草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r>
              <a:rPr lang="zh-TW" altLang="en-US" dirty="0" smtClean="0"/>
              <a:t>主要是</a:t>
            </a:r>
            <a:r>
              <a:rPr lang="en-US" altLang="zh-TW" dirty="0" smtClean="0"/>
              <a:t>3</a:t>
            </a:r>
            <a:r>
              <a:rPr lang="zh-TW" altLang="en-US" dirty="0" smtClean="0"/>
              <a:t>片葉子，但在極低的機率下，有機會找到</a:t>
            </a:r>
            <a:r>
              <a:rPr lang="en-US" altLang="zh-TW" dirty="0" smtClean="0"/>
              <a:t>4</a:t>
            </a:r>
            <a:r>
              <a:rPr lang="zh-TW" altLang="en-US" dirty="0" smtClean="0"/>
              <a:t>片葉子，是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 </a:t>
            </a:r>
            <a:r>
              <a:rPr lang="zh-TW" altLang="en-US" dirty="0" smtClean="0"/>
              <a:t>  幸運的象徵，所以又稱為幸運草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>
                <a:hlinkClick r:id="rId2"/>
              </a:rPr>
              <a:t>https://www.youtube.com/watch?v=uVNNSF9Ni0w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392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2561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/>
              <a:t>藍灰蝶的卵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16465"/>
            <a:ext cx="3794333" cy="5059111"/>
          </a:xfr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158" y="1316465"/>
            <a:ext cx="5448772" cy="3909399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5049140" y="5580404"/>
            <a:ext cx="6588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 smtClean="0"/>
              <a:t>拍攝者 </a:t>
            </a:r>
            <a:r>
              <a:rPr lang="en-US" altLang="zh-TW" sz="3200" dirty="0" smtClean="0"/>
              <a:t>: </a:t>
            </a:r>
            <a:r>
              <a:rPr lang="zh-TW" altLang="en-US" sz="3200" dirty="0" smtClean="0"/>
              <a:t>鱗物局的小編 </a:t>
            </a:r>
            <a:r>
              <a:rPr lang="en-US" altLang="zh-TW" sz="3200" dirty="0" smtClean="0"/>
              <a:t>Delia</a:t>
            </a:r>
          </a:p>
        </p:txBody>
      </p:sp>
    </p:spTree>
    <p:extLst>
      <p:ext uri="{BB962C8B-B14F-4D97-AF65-F5344CB8AC3E}">
        <p14:creationId xmlns:p14="http://schemas.microsoft.com/office/powerpoint/2010/main" val="158303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zh-TW" altLang="en-US" sz="2400" dirty="0" smtClean="0"/>
              <a:t>資料來源 </a:t>
            </a:r>
            <a:r>
              <a:rPr lang="en-US" altLang="zh-TW" sz="2400" dirty="0" smtClean="0"/>
              <a:t>: </a:t>
            </a:r>
            <a:r>
              <a:rPr lang="zh-TW" altLang="en-US" sz="2400" dirty="0" smtClean="0"/>
              <a:t>維基百科</a:t>
            </a:r>
            <a:endParaRPr lang="zh-TW" altLang="en-US" sz="2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                                                           </a:t>
            </a:r>
            <a:r>
              <a:rPr lang="en-US" altLang="zh-TW" dirty="0" smtClean="0"/>
              <a:t>123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74" y="17502"/>
            <a:ext cx="6723048" cy="668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6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一些美麗的蛾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長尾水青蛾</a:t>
            </a:r>
            <a:endParaRPr lang="en-US" altLang="zh-TW" dirty="0" smtClean="0"/>
          </a:p>
          <a:p>
            <a:r>
              <a:rPr lang="en-US" altLang="zh-TW" dirty="0" smtClean="0">
                <a:hlinkClick r:id="rId2"/>
              </a:rPr>
              <a:t>https://www.youtube.com/watch?v=35ILf4xbeME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/>
              <a:t>大透</a:t>
            </a:r>
            <a:r>
              <a:rPr lang="zh-TW" altLang="en-US" dirty="0" smtClean="0"/>
              <a:t>翅天蛾 </a:t>
            </a:r>
            <a:r>
              <a:rPr lang="en-US" altLang="zh-TW" dirty="0" smtClean="0"/>
              <a:t>(</a:t>
            </a:r>
            <a:r>
              <a:rPr lang="zh-TW" altLang="en-US" dirty="0" smtClean="0"/>
              <a:t>會飛的蝦子</a:t>
            </a:r>
            <a:r>
              <a:rPr lang="en-US" altLang="zh-TW" dirty="0" smtClean="0"/>
              <a:t>??)</a:t>
            </a:r>
          </a:p>
          <a:p>
            <a:r>
              <a:rPr lang="en-US" altLang="zh-TW" dirty="0">
                <a:hlinkClick r:id="rId3"/>
              </a:rPr>
              <a:t>https://</a:t>
            </a:r>
            <a:r>
              <a:rPr lang="en-US" altLang="zh-TW" dirty="0" smtClean="0">
                <a:hlinkClick r:id="rId3"/>
              </a:rPr>
              <a:t>www.youtube.com/watch?v=mHvRLfJkMX0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甘藷鳥羽蛾</a:t>
            </a:r>
            <a:endParaRPr lang="en-US" altLang="zh-TW" dirty="0"/>
          </a:p>
          <a:p>
            <a:r>
              <a:rPr lang="en-US" altLang="zh-TW" dirty="0" smtClean="0">
                <a:hlinkClick r:id="rId4"/>
              </a:rPr>
              <a:t>https://www.youtube.com/shorts/YFlDMTdfiV4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9137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在野外要注意自身安全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3200" dirty="0"/>
              <a:t>看到蝴蝶</a:t>
            </a:r>
            <a:r>
              <a:rPr lang="zh-TW" altLang="en-US" sz="3200" dirty="0" smtClean="0"/>
              <a:t>想靠近，請注意周遭環境</a:t>
            </a:r>
            <a:endParaRPr lang="en-US" altLang="zh-TW" sz="3200" dirty="0" smtClean="0"/>
          </a:p>
          <a:p>
            <a:r>
              <a:rPr lang="zh-TW" altLang="en-US" sz="3200" dirty="0" smtClean="0"/>
              <a:t>注意前方</a:t>
            </a:r>
            <a:r>
              <a:rPr lang="zh-TW" altLang="en-US" sz="3200" dirty="0"/>
              <a:t>是否有</a:t>
            </a:r>
            <a:r>
              <a:rPr lang="zh-TW" altLang="en-US" sz="3200" dirty="0" smtClean="0"/>
              <a:t>路</a:t>
            </a:r>
            <a:endParaRPr lang="en-US" altLang="zh-TW" sz="3200" dirty="0"/>
          </a:p>
          <a:p>
            <a:r>
              <a:rPr lang="zh-TW" altLang="en-US" sz="3200" dirty="0" smtClean="0"/>
              <a:t>注意路上是否有車</a:t>
            </a:r>
            <a:endParaRPr lang="en-US" altLang="zh-TW" sz="3200" dirty="0" smtClean="0"/>
          </a:p>
          <a:p>
            <a:r>
              <a:rPr lang="zh-TW" altLang="en-US" sz="3200" dirty="0" smtClean="0"/>
              <a:t>如果真的要走到草地上，注意草地裡是否有蛇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5442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621</Words>
  <Application>Microsoft Office PowerPoint</Application>
  <PresentationFormat>寬螢幕</PresentationFormat>
  <Paragraphs>97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Office 佈景主題</vt:lpstr>
      <vt:lpstr>資料來源: Peellden - 自己的作品, CC BY-SA 4.0, https://commons.wikimedia.org/w/index.php?curid=40881336</vt:lpstr>
      <vt:lpstr>拉拉山鑽灰蝶</vt:lpstr>
      <vt:lpstr>蝴蝶在台灣有新名和舊名兩套系統</vt:lpstr>
      <vt:lpstr>鱗翅目 (蝴蝶 和 蛾)</vt:lpstr>
      <vt:lpstr>某些蝴蝶的鱗粉結構特別，產生物理色</vt:lpstr>
      <vt:lpstr>蝴蝶有五大科</vt:lpstr>
      <vt:lpstr>灰蝶科</vt:lpstr>
      <vt:lpstr>城市中的小精靈 : 藍灰蝶</vt:lpstr>
      <vt:lpstr>藍灰蝶的翅膀背面</vt:lpstr>
      <vt:lpstr>黃花酢漿草 (藍灰蝶幼蟲的食草)</vt:lpstr>
      <vt:lpstr>藍灰蝶的卵</vt:lpstr>
      <vt:lpstr>資料來源 : 維基百科</vt:lpstr>
      <vt:lpstr>一些美麗的蛾</vt:lpstr>
      <vt:lpstr>在野外要注意自身安全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資料來源: Peellden - 自己的作品, CC BY-SA 4.0, https://commons.wikimedia.org/w/index.php?curid=40881336</dc:title>
  <dc:creator>KevinLin</dc:creator>
  <cp:lastModifiedBy>KevinLin</cp:lastModifiedBy>
  <cp:revision>37</cp:revision>
  <dcterms:created xsi:type="dcterms:W3CDTF">2026-06-12T10:04:31Z</dcterms:created>
  <dcterms:modified xsi:type="dcterms:W3CDTF">2026-06-15T15:01:13Z</dcterms:modified>
</cp:coreProperties>
</file>